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6858000" cy="9144000"/>
  <p:embeddedFontLst>
    <p:embeddedFont>
      <p:font typeface="Lato" charset="0"/>
      <p:regular r:id="rId16"/>
      <p:bold r:id="rId17"/>
      <p:italic r:id="rId18"/>
      <p:boldItalic r:id="rId19"/>
    </p:embeddedFont>
    <p:embeddedFont>
      <p:font typeface="Raleway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696" y="-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21160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5053cc3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5053cc3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5053cc336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5053cc336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5053cc33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5053cc336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5053cc336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5053cc336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5053cc336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5053cc336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5053cc336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5053cc336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5053cc336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5053cc336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5053cc336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5053cc336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5053cc336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5053cc336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564079" y="1322450"/>
            <a:ext cx="7688100" cy="3279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 Retail Sales Performance at Hybrid Stores</a:t>
            </a:r>
            <a:endParaRPr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600" dirty="0"/>
              <a:t>	</a:t>
            </a:r>
            <a:endParaRPr sz="360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2256870" y="4602300"/>
            <a:ext cx="5175063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Analysis of Sales, Cost, and Profit Trends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2995995" y="1231101"/>
            <a:ext cx="263632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690540" y="1498701"/>
            <a:ext cx="7688700" cy="2630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Background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Hybrid Stores operates across 7 global regions and 20+ countries.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 8 years of successful operations with growing inventory.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Diverse product categories sold via multiple sales channels.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Management seeks to boost profitability through strategic insights.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729450" y="1303506"/>
            <a:ext cx="7688700" cy="36186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lnSpc>
                <a:spcPct val="9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Identify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high- and low-performing regions, products, and sales channels.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GB"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0" indent="-317500">
              <a:lnSpc>
                <a:spcPct val="95000"/>
              </a:lnSpc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Analyse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correlations between product type, sales volume, and profit.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GB"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0" indent="-317500">
              <a:lnSpc>
                <a:spcPct val="95000"/>
              </a:lnSpc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Support executive decision-making with visual and quantitative evidence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b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GB"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lvl="0" indent="-317500">
              <a:lnSpc>
                <a:spcPct val="95000"/>
              </a:lnSpc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Improve inventory management and pricing strategies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Analyse correlations between product type, sales volume, and profit.</a:t>
            </a:r>
            <a:b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 smtClean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Support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executive decision-making with visual and quantitative evidence.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Improve inventory management and pricing strategies.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endParaRPr sz="14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1400" dirty="0"/>
          </a:p>
        </p:txBody>
      </p:sp>
      <p:sp>
        <p:nvSpPr>
          <p:cNvPr id="3" name="Google Shape;92;p14"/>
          <p:cNvSpPr txBox="1">
            <a:spLocks noGrp="1"/>
          </p:cNvSpPr>
          <p:nvPr>
            <p:ph type="title"/>
          </p:nvPr>
        </p:nvSpPr>
        <p:spPr>
          <a:xfrm>
            <a:off x="2937629" y="851723"/>
            <a:ext cx="263632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68362" y="1570605"/>
            <a:ext cx="7688700" cy="3572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Metric	                           	 Purpose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Total Revenue (TR)	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Understand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top-line income from sales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Total Cost (TC)		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Track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spending on products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Gross Profit (GP)		Reveal profitability before tax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Net Profit (NP)		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Measure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actual profit after tax (5%)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Avg. Net Profit (ANP)	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Assess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profitability per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transaction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92;p14"/>
          <p:cNvSpPr txBox="1">
            <a:spLocks/>
          </p:cNvSpPr>
          <p:nvPr/>
        </p:nvSpPr>
        <p:spPr>
          <a:xfrm>
            <a:off x="3783934" y="1125385"/>
            <a:ext cx="1060439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729450" y="1592491"/>
            <a:ext cx="7688700" cy="2960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5000"/>
              </a:lnSpc>
              <a:spcBef>
                <a:spcPts val="1200"/>
              </a:spcBef>
              <a:buSzPts val="440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Units Sold (US)		Track sales volume per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item/region</a:t>
            </a:r>
          </a:p>
          <a:p>
            <a:pPr marL="0" lvl="0" indent="0">
              <a:lnSpc>
                <a:spcPct val="105000"/>
              </a:lnSpc>
              <a:spcBef>
                <a:spcPts val="1200"/>
              </a:spcBef>
              <a:buSzPts val="440"/>
              <a:buNone/>
            </a:pP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Order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Priority Impact	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Measure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urgency-driven demand</a:t>
            </a:r>
          </a:p>
          <a:p>
            <a:pPr marL="0" lvl="0" indent="0">
              <a:lnSpc>
                <a:spcPct val="105000"/>
              </a:lnSpc>
              <a:spcBef>
                <a:spcPts val="1200"/>
              </a:spcBef>
              <a:buSzPts val="440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Year-over-Year Profit	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Identify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growth or decline over 8 years</a:t>
            </a:r>
          </a:p>
          <a:p>
            <a:pPr marL="0" lvl="0" indent="0" algn="l" rtl="0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Units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Sold (US)		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Track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sales volume per item/region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400" dirty="0"/>
          </a:p>
        </p:txBody>
      </p:sp>
      <p:sp>
        <p:nvSpPr>
          <p:cNvPr id="3" name="Google Shape;92;p14"/>
          <p:cNvSpPr txBox="1">
            <a:spLocks/>
          </p:cNvSpPr>
          <p:nvPr/>
        </p:nvSpPr>
        <p:spPr>
          <a:xfrm>
            <a:off x="3151635" y="1174023"/>
            <a:ext cx="2072117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KPIs CONT.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6" y="-1"/>
            <a:ext cx="9043516" cy="500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1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8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2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4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995995" y="997638"/>
            <a:ext cx="2441767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FINDINGS</a:t>
            </a:r>
            <a:endParaRPr dirty="0"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609850" y="1420238"/>
            <a:ext cx="7688700" cy="37232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Item Type &amp; Product Insights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High-revenue items include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Household, </a:t>
            </a:r>
            <a:r>
              <a:rPr lang="en-GB" sz="18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CosmeticsBaby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Food, Office Supplies,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Cereal.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Some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items have high sales but low net profit — e.g., Fruits.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Regional Trends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Sub-Saharan Africa and Asia regions drive the highest volume.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Europe showed consistent but moderate returns.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Sales Channel Contribution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Offline channel leads in volume; Online shows higher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margins.</a:t>
            </a:r>
            <a:endParaRPr lang="en-GB"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ruits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underperforms in both sales and profit.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957800" y="1502525"/>
            <a:ext cx="7688700" cy="28068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Order </a:t>
            </a: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Priority Impact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High and Medium-priority orders generated the highest revenue.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Low-priority orders associated with lower sales and longer delays.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lang="en-GB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Yearly </a:t>
            </a: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Trends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Net Profit grew steadily in Years 4–6, declined slightly in Year 7.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Cost growth outpaces revenue in some regions, requiring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review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1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1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125" dirty="0"/>
          </a:p>
        </p:txBody>
      </p:sp>
      <p:sp>
        <p:nvSpPr>
          <p:cNvPr id="3" name="Google Shape;114;p18"/>
          <p:cNvSpPr txBox="1">
            <a:spLocks noGrp="1"/>
          </p:cNvSpPr>
          <p:nvPr>
            <p:ph type="title"/>
          </p:nvPr>
        </p:nvSpPr>
        <p:spPr>
          <a:xfrm>
            <a:off x="2995994" y="997638"/>
            <a:ext cx="3171341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</a:t>
            </a:r>
            <a:r>
              <a:rPr lang="en-GB" dirty="0" smtClean="0"/>
              <a:t>FINDINGS CONT.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2733348" y="1153280"/>
            <a:ext cx="3278346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RECOMMENDATIONS</a:t>
            </a:r>
            <a:endParaRPr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709995" y="1420880"/>
            <a:ext cx="7688700" cy="3627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Short-Term (0–6 months)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Re-price low-margin items like Fruits to increase profit margin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Invest in best-selling categories like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Household, Baby Food,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and Office Supplies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Streamline logistics for high-priority orders to reduce delivery time.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Mid-Term (6–12 months)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4. Optimize regional operations by expanding in top-performing countries.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5. Review sales channel investments — boost Online for higher margins.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6. Automate KPI tracking dashboards using Excel Pivot + Power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BI/</a:t>
            </a:r>
            <a:r>
              <a:rPr lang="en-GB" sz="18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Tableu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855909" y="168848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Long-Term </a:t>
            </a:r>
            <a:r>
              <a:rPr lang="en-GB" sz="1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(&gt;1 year)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/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7. Introduce customer </a:t>
            </a:r>
            <a:r>
              <a:rPr lang="en-GB" sz="18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behaviour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using purchase history.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8. Train regional managers on using data for strategic decision-making.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9. Implement smart inventory tools to reduce dead stock.</a:t>
            </a:r>
            <a:b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10. Expand into underperforming but promising markets cautiously</a:t>
            </a: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  <p:sp>
        <p:nvSpPr>
          <p:cNvPr id="3" name="Google Shape;125;p20"/>
          <p:cNvSpPr txBox="1">
            <a:spLocks noGrp="1"/>
          </p:cNvSpPr>
          <p:nvPr>
            <p:ph type="title"/>
          </p:nvPr>
        </p:nvSpPr>
        <p:spPr>
          <a:xfrm>
            <a:off x="2295728" y="1153280"/>
            <a:ext cx="4173166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RECOMMENDATIONS CONT.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924004" y="2077408"/>
            <a:ext cx="7688700" cy="150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GB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YOU </a:t>
            </a:r>
            <a:endParaRPr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2392881" y="3265651"/>
            <a:ext cx="4581851" cy="839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Looking </a:t>
            </a:r>
            <a:r>
              <a:rPr lang="en-GB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 to your feedback and questions.</a:t>
            </a: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245</Words>
  <Application>Microsoft Office PowerPoint</Application>
  <PresentationFormat>On-screen Show (16:9)</PresentationFormat>
  <Paragraphs>58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Lato</vt:lpstr>
      <vt:lpstr>Times New Roman</vt:lpstr>
      <vt:lpstr>Raleway</vt:lpstr>
      <vt:lpstr>Streamline</vt:lpstr>
      <vt:lpstr>Maximizing Retail Sales Performance at Hybrid Stores  </vt:lpstr>
      <vt:lpstr>INTRODUCTION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</vt:lpstr>
      <vt:lpstr>KEY FINDINGS CONT.</vt:lpstr>
      <vt:lpstr>RECOMMENDATIONS</vt:lpstr>
      <vt:lpstr>RECOMMENDATIONS CONT.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Maximizing Retail Sales Performance at Hybrid Stores</dc:title>
  <dc:creator>Saviola</dc:creator>
  <cp:lastModifiedBy>Saviola</cp:lastModifiedBy>
  <cp:revision>9</cp:revision>
  <dcterms:modified xsi:type="dcterms:W3CDTF">2026-02-19T11:18:45Z</dcterms:modified>
</cp:coreProperties>
</file>